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1" d="100"/>
          <a:sy n="91" d="100"/>
        </p:scale>
        <p:origin x="14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3200" y="1396201"/>
            <a:ext cx="16052800" cy="6063198"/>
          </a:xfrm>
          <a:prstGeom prst="rect">
            <a:avLst/>
          </a:prstGeom>
          <a:solidFill>
            <a:srgbClr val="2226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3600" b="1" i="0" u="none" strike="noStrike" cap="none" normalizeH="0" baseline="0" dirty="0" smtClean="0">
                <a:ln>
                  <a:noFill/>
                </a:ln>
                <a:solidFill>
                  <a:srgbClr val="C7C7C7"/>
                </a:solidFill>
                <a:effectLst/>
                <a:latin typeface="Arial" panose="020B0604020202020204" pitchFamily="34" charset="0"/>
              </a:rPr>
              <a:t>課程大綱 (Agenda)</a:t>
            </a:r>
            <a:endParaRPr kumimoji="0" lang="en-US" altLang="zh-TW" sz="3600" b="1" i="0" u="none" strike="noStrike" cap="none" normalizeH="0" baseline="0" dirty="0" smtClean="0">
              <a:ln>
                <a:noFill/>
              </a:ln>
              <a:solidFill>
                <a:srgbClr val="C7C7C7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TW" altLang="zh-TW" sz="2800" b="1" i="0" u="none" strike="noStrike" cap="none" normalizeH="0" baseline="0" dirty="0" smtClean="0">
                <a:ln>
                  <a:noFill/>
                </a:ln>
                <a:solidFill>
                  <a:srgbClr val="C7C7C7"/>
                </a:solidFill>
                <a:effectLst/>
                <a:latin typeface="Arial" panose="020B0604020202020204" pitchFamily="34" charset="0"/>
                <a:ea typeface="Google Sans Text"/>
              </a:rPr>
              <a:t>數據分析與 HTML 產出</a:t>
            </a:r>
            <a:r>
              <a:rPr kumimoji="0" lang="zh-TW" altLang="zh-TW" sz="2800" b="0" i="0" u="none" strike="noStrike" cap="none" normalizeH="0" baseline="0" dirty="0" smtClean="0">
                <a:ln>
                  <a:noFill/>
                </a:ln>
                <a:solidFill>
                  <a:srgbClr val="C7C7C7"/>
                </a:solidFill>
                <a:effectLst/>
                <a:latin typeface="Arial" panose="020B0604020202020204" pitchFamily="34" charset="0"/>
                <a:ea typeface="Google Sans Text"/>
              </a:rPr>
              <a:t>：從 Excel 或雲端 Excel 讀取資料並分析產出 HTML 檔案。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TW" altLang="zh-TW" sz="2800" b="1" i="0" u="none" strike="noStrike" cap="none" normalizeH="0" baseline="0" dirty="0" smtClean="0">
                <a:ln>
                  <a:noFill/>
                </a:ln>
                <a:solidFill>
                  <a:srgbClr val="C7C7C7"/>
                </a:solidFill>
                <a:effectLst/>
                <a:latin typeface="Arial" panose="020B0604020202020204" pitchFamily="34" charset="0"/>
                <a:ea typeface="Google Sans Text"/>
              </a:rPr>
              <a:t>網頁部署</a:t>
            </a:r>
            <a:r>
              <a:rPr kumimoji="0" lang="zh-TW" altLang="zh-TW" sz="2800" b="0" i="0" u="none" strike="noStrike" cap="none" normalizeH="0" baseline="0" dirty="0" smtClean="0">
                <a:ln>
                  <a:noFill/>
                </a:ln>
                <a:solidFill>
                  <a:srgbClr val="C7C7C7"/>
                </a:solidFill>
                <a:effectLst/>
                <a:latin typeface="Arial" panose="020B0604020202020204" pitchFamily="34" charset="0"/>
                <a:ea typeface="Google Sans Text"/>
              </a:rPr>
              <a:t>：將產出的本地端 HTML 檔案推送 (Push) 到網站上顯示。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TW" altLang="zh-TW" sz="2800" b="1" i="0" u="none" strike="noStrike" cap="none" normalizeH="0" baseline="0" dirty="0" smtClean="0">
                <a:ln>
                  <a:noFill/>
                </a:ln>
                <a:solidFill>
                  <a:srgbClr val="C7C7C7"/>
                </a:solidFill>
                <a:effectLst/>
                <a:latin typeface="Arial" panose="020B0604020202020204" pitchFamily="34" charset="0"/>
                <a:ea typeface="Google Sans Text"/>
              </a:rPr>
              <a:t>雙向互動回寫</a:t>
            </a:r>
            <a:r>
              <a:rPr kumimoji="0" lang="zh-TW" altLang="zh-TW" sz="2800" b="0" i="0" u="none" strike="noStrike" cap="none" normalizeH="0" baseline="0" dirty="0" smtClean="0">
                <a:ln>
                  <a:noFill/>
                </a:ln>
                <a:solidFill>
                  <a:srgbClr val="C7C7C7"/>
                </a:solidFill>
                <a:effectLst/>
                <a:latin typeface="Arial" panose="020B0604020202020204" pitchFamily="34" charset="0"/>
                <a:ea typeface="Google Sans Text"/>
              </a:rPr>
              <a:t>：將讀取的資料進行編輯並回寫到 Excel 檔案或雲端 Excel。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zh-TW" altLang="zh-TW" sz="2800" b="1" i="0" u="none" strike="noStrike" cap="none" normalizeH="0" baseline="0" dirty="0" smtClean="0">
                <a:ln>
                  <a:noFill/>
                </a:ln>
                <a:solidFill>
                  <a:srgbClr val="C7C7C7"/>
                </a:solidFill>
                <a:effectLst/>
                <a:latin typeface="Arial" panose="020B0604020202020204" pitchFamily="34" charset="0"/>
                <a:ea typeface="Google Sans Text"/>
              </a:rPr>
              <a:t>個人化應用</a:t>
            </a:r>
            <a:r>
              <a:rPr kumimoji="0" lang="zh-TW" altLang="zh-TW" sz="2800" b="0" i="0" u="none" strike="noStrike" cap="none" normalizeH="0" baseline="0" dirty="0" smtClean="0">
                <a:ln>
                  <a:noFill/>
                </a:ln>
                <a:solidFill>
                  <a:srgbClr val="C7C7C7"/>
                </a:solidFill>
                <a:effectLst/>
                <a:latin typeface="Arial" panose="020B0604020202020204" pitchFamily="34" charset="0"/>
                <a:ea typeface="Google Sans Text"/>
              </a:rPr>
              <a:t>：建立個人程式列表（如知識庫或生活管理系統）。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zh-TW" altLang="zh-TW" sz="2800" b="1" i="0" u="none" strike="noStrike" cap="none" normalizeH="0" baseline="0" dirty="0" smtClean="0">
                <a:ln>
                  <a:noFill/>
                </a:ln>
                <a:solidFill>
                  <a:srgbClr val="C7C7C7"/>
                </a:solidFill>
                <a:effectLst/>
                <a:latin typeface="Arial" panose="020B0604020202020204" pitchFamily="34" charset="0"/>
                <a:ea typeface="Google Sans Text"/>
              </a:rPr>
              <a:t>資料庫整合</a:t>
            </a:r>
            <a:r>
              <a:rPr kumimoji="0" lang="zh-TW" altLang="zh-TW" sz="2800" b="0" i="0" u="none" strike="noStrike" cap="none" normalizeH="0" baseline="0" dirty="0" smtClean="0">
                <a:ln>
                  <a:noFill/>
                </a:ln>
                <a:solidFill>
                  <a:srgbClr val="C7C7C7"/>
                </a:solidFill>
                <a:effectLst/>
                <a:latin typeface="Arial" panose="020B0604020202020204" pitchFamily="34" charset="0"/>
                <a:ea typeface="Google Sans Text"/>
              </a:rPr>
              <a:t>：將 Excel 資料轉入 MongoDB。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zh-TW" altLang="zh-TW" sz="2800" b="1" i="0" u="none" strike="noStrike" cap="none" normalizeH="0" baseline="0" dirty="0" smtClean="0">
                <a:ln>
                  <a:noFill/>
                </a:ln>
                <a:solidFill>
                  <a:srgbClr val="C7C7C7"/>
                </a:solidFill>
                <a:effectLst/>
                <a:latin typeface="Arial" panose="020B0604020202020204" pitchFamily="34" charset="0"/>
                <a:ea typeface="Google Sans Text"/>
              </a:rPr>
              <a:t>自動化排程</a:t>
            </a:r>
            <a:r>
              <a:rPr kumimoji="0" lang="zh-TW" altLang="zh-TW" sz="2800" b="0" i="0" u="none" strike="noStrike" cap="none" normalizeH="0" baseline="0" dirty="0" smtClean="0">
                <a:ln>
                  <a:noFill/>
                </a:ln>
                <a:solidFill>
                  <a:srgbClr val="C7C7C7"/>
                </a:solidFill>
                <a:effectLst/>
                <a:latin typeface="Arial" panose="020B0604020202020204" pitchFamily="34" charset="0"/>
                <a:ea typeface="Google Sans Text"/>
              </a:rPr>
              <a:t>：使用排程工具將每日資料進行自動更新。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zh-TW" altLang="zh-TW" sz="2800" b="1" i="0" u="none" strike="noStrike" cap="none" normalizeH="0" baseline="0" dirty="0" smtClean="0">
                <a:ln>
                  <a:noFill/>
                </a:ln>
                <a:solidFill>
                  <a:srgbClr val="C7C7C7"/>
                </a:solidFill>
                <a:effectLst/>
                <a:latin typeface="Arial" panose="020B0604020202020204" pitchFamily="34" charset="0"/>
                <a:ea typeface="Google Sans Text"/>
              </a:rPr>
              <a:t>即時通知系統</a:t>
            </a:r>
            <a:r>
              <a:rPr kumimoji="0" lang="zh-TW" altLang="zh-TW" sz="2800" b="0" i="0" u="none" strike="noStrike" cap="none" normalizeH="0" baseline="0" dirty="0" smtClean="0">
                <a:ln>
                  <a:noFill/>
                </a:ln>
                <a:solidFill>
                  <a:srgbClr val="C7C7C7"/>
                </a:solidFill>
                <a:effectLst/>
                <a:latin typeface="Arial" panose="020B0604020202020204" pitchFamily="34" charset="0"/>
                <a:ea typeface="Google Sans Text"/>
              </a:rPr>
              <a:t>：當資料更新完成後，自動進行 LINE 通知。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zh-TW" altLang="zh-TW" sz="2800" b="1" i="0" u="none" strike="noStrike" cap="none" normalizeH="0" baseline="0" dirty="0" smtClean="0">
                <a:ln>
                  <a:noFill/>
                </a:ln>
                <a:solidFill>
                  <a:srgbClr val="C7C7C7"/>
                </a:solidFill>
                <a:effectLst/>
                <a:latin typeface="Arial" panose="020B0604020202020204" pitchFamily="34" charset="0"/>
                <a:ea typeface="Google Sans Text"/>
              </a:rPr>
              <a:t>系統優化與安全</a:t>
            </a:r>
            <a:r>
              <a:rPr kumimoji="0" lang="zh-TW" altLang="zh-TW" sz="2800" b="0" i="0" u="none" strike="noStrike" cap="none" normalizeH="0" baseline="0" dirty="0" smtClean="0">
                <a:ln>
                  <a:noFill/>
                </a:ln>
                <a:solidFill>
                  <a:srgbClr val="C7C7C7"/>
                </a:solidFill>
                <a:effectLst/>
                <a:latin typeface="Arial" panose="020B0604020202020204" pitchFamily="34" charset="0"/>
                <a:ea typeface="Google Sans Text"/>
              </a:rPr>
              <a:t>：整體系統效能優化與資訊安全防護。</a:t>
            </a:r>
            <a:endParaRPr kumimoji="0" lang="en-US" altLang="zh-TW" sz="2800" b="0" i="0" u="none" strike="noStrike" cap="none" normalizeH="0" baseline="0" dirty="0" smtClean="0">
              <a:ln>
                <a:noFill/>
              </a:ln>
              <a:solidFill>
                <a:srgbClr val="C7C7C7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endParaRPr lang="en-US" altLang="zh-TW" dirty="0">
              <a:solidFill>
                <a:srgbClr val="C7C7C7"/>
              </a:solidFill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endParaRPr kumimoji="0" lang="en-US" altLang="zh-TW" b="0" i="0" u="none" strike="noStrike" cap="none" normalizeH="0" baseline="0" dirty="0" smtClean="0">
              <a:ln>
                <a:noFill/>
              </a:ln>
              <a:solidFill>
                <a:srgbClr val="C7C7C7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endParaRPr kumimoji="0" lang="en-US" altLang="zh-TW" b="0" i="0" u="none" strike="noStrike" cap="none" normalizeH="0" baseline="0" dirty="0" smtClean="0">
              <a:ln>
                <a:noFill/>
              </a:ln>
              <a:solidFill>
                <a:srgbClr val="C7C7C7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endParaRPr kumimoji="0" lang="en-US" altLang="zh-TW" sz="1000" dirty="0">
              <a:solidFill>
                <a:srgbClr val="C7C7C7"/>
              </a:solidFill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endParaRPr kumimoji="0" lang="zh-TW" altLang="zh-TW" sz="1000" b="0" i="0" u="none" strike="noStrike" cap="none" normalizeH="0" baseline="0" dirty="0" smtClean="0">
              <a:ln>
                <a:noFill/>
              </a:ln>
              <a:solidFill>
                <a:srgbClr val="C7C7C7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946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38099"/>
            <a:ext cx="16129000" cy="89969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132</Words>
  <Application>Microsoft Office PowerPoint</Application>
  <PresentationFormat>自訂</PresentationFormat>
  <Paragraphs>14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Google Sans Text</vt:lpstr>
      <vt:lpstr>新細明體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陳俊良(iso-accound)</cp:lastModifiedBy>
  <cp:revision>2</cp:revision>
  <dcterms:created xsi:type="dcterms:W3CDTF">2006-08-16T00:00:00Z</dcterms:created>
  <dcterms:modified xsi:type="dcterms:W3CDTF">2026-07-23T08:24:55Z</dcterms:modified>
</cp:coreProperties>
</file>