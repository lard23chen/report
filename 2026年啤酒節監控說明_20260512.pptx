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9" r:id="rId2"/>
    <p:sldId id="268" r:id="rId3"/>
    <p:sldId id="279" r:id="rId4"/>
    <p:sldId id="256" r:id="rId5"/>
    <p:sldId id="257" r:id="rId6"/>
    <p:sldId id="260" r:id="rId7"/>
    <p:sldId id="262" r:id="rId8"/>
    <p:sldId id="273" r:id="rId9"/>
    <p:sldId id="274" r:id="rId10"/>
    <p:sldId id="275" r:id="rId11"/>
    <p:sldId id="277" r:id="rId12"/>
    <p:sldId id="276" r:id="rId13"/>
    <p:sldId id="269" r:id="rId14"/>
    <p:sldId id="270" r:id="rId15"/>
    <p:sldId id="272" r:id="rId16"/>
    <p:sldId id="278" r:id="rId17"/>
    <p:sldId id="267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3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B27C26-D791-43A0-8EEB-C4369F9C3F12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2316B9CB-A922-4D53-9DBE-4D689616A25D}">
      <dgm:prSet phldrT="[文字]"/>
      <dgm:spPr/>
      <dgm:t>
        <a:bodyPr/>
        <a:lstStyle/>
        <a:p>
          <a:r>
            <a:rPr lang="en-US" altLang="zh-TW" dirty="0" smtClean="0">
              <a:latin typeface="微軟正黑體" pitchFamily="34" charset="-120"/>
              <a:ea typeface="微軟正黑體" pitchFamily="34" charset="-120"/>
            </a:rPr>
            <a:t>Step 1</a:t>
          </a:r>
          <a:endParaRPr lang="zh-TW" altLang="en-US" dirty="0">
            <a:latin typeface="微軟正黑體" pitchFamily="34" charset="-120"/>
            <a:ea typeface="微軟正黑體" pitchFamily="34" charset="-120"/>
          </a:endParaRPr>
        </a:p>
      </dgm:t>
    </dgm:pt>
    <dgm:pt modelId="{540EAF7C-FBB2-4326-8A97-50D4CD252AF9}" type="parTrans" cxnId="{B2E810CB-6664-431E-87F4-DDAE39419025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1C2122DC-C5F5-4148-AC5A-5FB7F5A5F129}" type="sibTrans" cxnId="{B2E810CB-6664-431E-87F4-DDAE39419025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98B1736B-32EA-4504-8066-E7C67505B874}">
      <dgm:prSet phldrT="[文字]"/>
      <dgm:spPr/>
      <dgm:t>
        <a:bodyPr/>
        <a:lstStyle/>
        <a:p>
          <a:r>
            <a:rPr lang="zh-TW" altLang="en-US" dirty="0" smtClean="0">
              <a:latin typeface="微軟正黑體" pitchFamily="34" charset="-120"/>
              <a:ea typeface="微軟正黑體" pitchFamily="34" charset="-120"/>
            </a:rPr>
            <a:t>技術確認為</a:t>
          </a:r>
          <a:r>
            <a:rPr lang="en-US" altLang="zh-TW" dirty="0" smtClean="0">
              <a:latin typeface="微軟正黑體" pitchFamily="34" charset="-120"/>
              <a:ea typeface="微軟正黑體" pitchFamily="34" charset="-120"/>
            </a:rPr>
            <a:t>CF</a:t>
          </a:r>
          <a:r>
            <a:rPr lang="zh-TW" altLang="en-US" dirty="0" smtClean="0">
              <a:latin typeface="微軟正黑體" pitchFamily="34" charset="-120"/>
              <a:ea typeface="微軟正黑體" pitchFamily="34" charset="-120"/>
            </a:rPr>
            <a:t>問題</a:t>
          </a:r>
          <a:endParaRPr lang="zh-TW" altLang="en-US" dirty="0">
            <a:latin typeface="微軟正黑體" pitchFamily="34" charset="-120"/>
            <a:ea typeface="微軟正黑體" pitchFamily="34" charset="-120"/>
          </a:endParaRPr>
        </a:p>
      </dgm:t>
    </dgm:pt>
    <dgm:pt modelId="{90C846E3-770F-406B-AAFF-F0C8FF06EEAB}" type="parTrans" cxnId="{C48CB122-91C6-4A16-98C9-F589F7B0890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A2709123-C7E5-4950-A930-6DD72E17BC75}" type="sibTrans" cxnId="{C48CB122-91C6-4A16-98C9-F589F7B0890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E50FCFEE-2DA9-4601-A14D-5C24564485E4}">
      <dgm:prSet phldrT="[文字]"/>
      <dgm:spPr/>
      <dgm:t>
        <a:bodyPr/>
        <a:lstStyle/>
        <a:p>
          <a:r>
            <a:rPr lang="en-US" altLang="zh-TW" dirty="0" smtClean="0">
              <a:latin typeface="微軟正黑體" pitchFamily="34" charset="-120"/>
              <a:ea typeface="微軟正黑體" pitchFamily="34" charset="-120"/>
            </a:rPr>
            <a:t>Step 2</a:t>
          </a:r>
          <a:endParaRPr lang="zh-TW" altLang="en-US" dirty="0">
            <a:latin typeface="微軟正黑體" pitchFamily="34" charset="-120"/>
            <a:ea typeface="微軟正黑體" pitchFamily="34" charset="-120"/>
          </a:endParaRPr>
        </a:p>
      </dgm:t>
    </dgm:pt>
    <dgm:pt modelId="{58AECC57-47D8-47B2-B8A8-4BE6EE3243FC}" type="parTrans" cxnId="{CCB9BB66-9ABA-4E63-8566-6677D6228B80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DD6BC977-41B1-4DE8-98DA-CA7FDE7D5D6B}" type="sibTrans" cxnId="{CCB9BB66-9ABA-4E63-8566-6677D6228B80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1DA1F3B9-BC2D-45E4-8A41-3BB16E9A63D2}">
      <dgm:prSet phldrT="[文字]"/>
      <dgm:spPr/>
      <dgm:t>
        <a:bodyPr/>
        <a:lstStyle/>
        <a:p>
          <a:r>
            <a:rPr lang="zh-TW" altLang="en-US" dirty="0" smtClean="0">
              <a:latin typeface="微軟正黑體" pitchFamily="34" charset="-120"/>
              <a:ea typeface="微軟正黑體" pitchFamily="34" charset="-120"/>
            </a:rPr>
            <a:t>只能</a:t>
          </a:r>
          <a:r>
            <a:rPr lang="en-US" altLang="zh-TW" b="1" dirty="0" err="1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ibon</a:t>
          </a:r>
          <a:r>
            <a:rPr lang="zh-TW" altLang="en-US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機台售票</a:t>
          </a:r>
          <a:endParaRPr lang="zh-TW" altLang="en-US" b="1" dirty="0">
            <a:solidFill>
              <a:srgbClr val="C00000"/>
            </a:solidFill>
            <a:latin typeface="微軟正黑體" pitchFamily="34" charset="-120"/>
            <a:ea typeface="微軟正黑體" pitchFamily="34" charset="-120"/>
          </a:endParaRPr>
        </a:p>
      </dgm:t>
    </dgm:pt>
    <dgm:pt modelId="{21B2BC63-92D3-4AD3-8F04-3682CAF31DCF}" type="parTrans" cxnId="{2503448C-DE8D-4A27-80C0-D721685809BC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4CEA4C31-B8A6-4422-8CF0-41738603D72E}" type="sibTrans" cxnId="{2503448C-DE8D-4A27-80C0-D721685809BC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775F5D96-0A15-4C11-92AF-3695F7BAC039}">
      <dgm:prSet phldrT="[文字]"/>
      <dgm:spPr/>
      <dgm:t>
        <a:bodyPr/>
        <a:lstStyle/>
        <a:p>
          <a:r>
            <a:rPr lang="en-US" altLang="zh-TW" dirty="0" smtClean="0">
              <a:latin typeface="微軟正黑體" pitchFamily="34" charset="-120"/>
              <a:ea typeface="微軟正黑體" pitchFamily="34" charset="-120"/>
            </a:rPr>
            <a:t>Step 3</a:t>
          </a:r>
          <a:endParaRPr lang="zh-TW" altLang="en-US" dirty="0">
            <a:latin typeface="微軟正黑體" pitchFamily="34" charset="-120"/>
            <a:ea typeface="微軟正黑體" pitchFamily="34" charset="-120"/>
          </a:endParaRPr>
        </a:p>
      </dgm:t>
    </dgm:pt>
    <dgm:pt modelId="{FCB45B77-F47A-465D-BC5C-6502811C8CFB}" type="parTrans" cxnId="{A887874A-A165-4DA6-AE32-EE99E5278BD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3EC77D74-23F8-4EF9-ABC6-B0925F493D40}" type="sibTrans" cxnId="{A887874A-A165-4DA6-AE32-EE99E5278BD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50F8A9FE-1BB4-4D93-A7DC-CD5F9A898D0D}">
      <dgm:prSet phldrT="[文字]" custT="1"/>
      <dgm:spPr/>
      <dgm:t>
        <a:bodyPr/>
        <a:lstStyle/>
        <a:p>
          <a:r>
            <a:rPr lang="en-US" altLang="zh-TW" sz="1500" dirty="0" smtClean="0">
              <a:latin typeface="微軟正黑體" pitchFamily="34" charset="-120"/>
              <a:ea typeface="微軟正黑體" pitchFamily="34" charset="-120"/>
            </a:rPr>
            <a:t>PM/Q</a:t>
          </a:r>
          <a:r>
            <a:rPr lang="zh-TW" altLang="en-US" sz="1500" dirty="0" smtClean="0">
              <a:latin typeface="微軟正黑體" pitchFamily="34" charset="-120"/>
              <a:ea typeface="微軟正黑體" pitchFamily="34" charset="-120"/>
            </a:rPr>
            <a:t>、</a:t>
          </a:r>
          <a:r>
            <a:rPr lang="en-US" altLang="zh-TW" sz="1500" dirty="0" smtClean="0">
              <a:latin typeface="微軟正黑體" pitchFamily="34" charset="-120"/>
              <a:ea typeface="微軟正黑體" pitchFamily="34" charset="-120"/>
            </a:rPr>
            <a:t>A</a:t>
          </a:r>
          <a:r>
            <a:rPr lang="zh-TW" altLang="en-US" sz="1500" dirty="0" smtClean="0">
              <a:latin typeface="微軟正黑體" pitchFamily="34" charset="-120"/>
              <a:ea typeface="微軟正黑體" pitchFamily="34" charset="-120"/>
            </a:rPr>
            <a:t>系統技術機台監控</a:t>
          </a:r>
          <a:endParaRPr lang="zh-TW" altLang="en-US" sz="1500" dirty="0">
            <a:latin typeface="微軟正黑體" pitchFamily="34" charset="-120"/>
            <a:ea typeface="微軟正黑體" pitchFamily="34" charset="-120"/>
          </a:endParaRPr>
        </a:p>
      </dgm:t>
    </dgm:pt>
    <dgm:pt modelId="{41D9E85E-FECC-4750-8060-E946D8E68969}" type="parTrans" cxnId="{A523E429-9A7F-420E-85E4-617820EE44D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D43C4320-9F4C-4B96-9462-FB3A8F9A5A10}" type="sibTrans" cxnId="{A523E429-9A7F-420E-85E4-617820EE44D8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4D79C957-A3A1-422C-AA7B-734FADC7F745}">
      <dgm:prSet phldrT="[文字]"/>
      <dgm:spPr/>
      <dgm:t>
        <a:bodyPr/>
        <a:lstStyle/>
        <a:p>
          <a:r>
            <a:rPr lang="en-US" altLang="zh-TW" dirty="0" smtClean="0">
              <a:latin typeface="微軟正黑體" pitchFamily="34" charset="-120"/>
              <a:ea typeface="微軟正黑體" pitchFamily="34" charset="-120"/>
            </a:rPr>
            <a:t>PM→</a:t>
          </a:r>
          <a:r>
            <a:rPr lang="zh-TW" altLang="en-US" dirty="0" smtClean="0">
              <a:latin typeface="微軟正黑體" pitchFamily="34" charset="-120"/>
              <a:ea typeface="微軟正黑體" pitchFamily="34" charset="-120"/>
            </a:rPr>
            <a:t>通知業務→告知主辦，</a:t>
          </a:r>
          <a:r>
            <a:rPr lang="zh-TW" altLang="en-US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公告於主辦社群</a:t>
          </a:r>
          <a:endParaRPr lang="zh-TW" altLang="en-US" b="1" dirty="0">
            <a:solidFill>
              <a:srgbClr val="C00000"/>
            </a:solidFill>
            <a:latin typeface="微軟正黑體" pitchFamily="34" charset="-120"/>
            <a:ea typeface="微軟正黑體" pitchFamily="34" charset="-120"/>
          </a:endParaRPr>
        </a:p>
      </dgm:t>
    </dgm:pt>
    <dgm:pt modelId="{C94859CE-70A5-4782-883F-FFC18BA88018}" type="parTrans" cxnId="{6A691D01-5D13-49A8-B902-75D0D0E5F5B9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C769CC72-8E61-4E1D-8407-CC5CA12C10F2}" type="sibTrans" cxnId="{6A691D01-5D13-49A8-B902-75D0D0E5F5B9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1077B68D-4081-4C20-B15A-03F839C2AE90}">
      <dgm:prSet phldrT="[文字]"/>
      <dgm:spPr/>
      <dgm:t>
        <a:bodyPr/>
        <a:lstStyle/>
        <a:p>
          <a:r>
            <a:rPr lang="zh-TW" altLang="en-US" dirty="0" smtClean="0">
              <a:latin typeface="微軟正黑體" pitchFamily="34" charset="-120"/>
              <a:ea typeface="微軟正黑體" pitchFamily="34" charset="-120"/>
            </a:rPr>
            <a:t>業務回饋開放時間</a:t>
          </a:r>
          <a:endParaRPr lang="zh-TW" altLang="en-US" dirty="0">
            <a:latin typeface="微軟正黑體" pitchFamily="34" charset="-120"/>
            <a:ea typeface="微軟正黑體" pitchFamily="34" charset="-120"/>
          </a:endParaRPr>
        </a:p>
      </dgm:t>
    </dgm:pt>
    <dgm:pt modelId="{FFC67076-89CA-4FBD-AAEA-C3105B40387E}" type="parTrans" cxnId="{497EFD03-C153-4ABB-B747-D7A4E9FB8607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4FB269F9-5C50-42C6-9226-366349D6521A}" type="sibTrans" cxnId="{497EFD03-C153-4ABB-B747-D7A4E9FB8607}">
      <dgm:prSet/>
      <dgm:spPr/>
      <dgm:t>
        <a:bodyPr/>
        <a:lstStyle/>
        <a:p>
          <a:endParaRPr lang="zh-TW" altLang="en-US">
            <a:latin typeface="微軟正黑體" pitchFamily="34" charset="-120"/>
            <a:ea typeface="微軟正黑體" pitchFamily="34" charset="-120"/>
          </a:endParaRPr>
        </a:p>
      </dgm:t>
    </dgm:pt>
    <dgm:pt modelId="{917106AA-D79D-4BB6-8395-02FDE8DC7F32}" type="pres">
      <dgm:prSet presAssocID="{31B27C26-D791-43A0-8EEB-C4369F9C3F12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TW" altLang="en-US"/>
        </a:p>
      </dgm:t>
    </dgm:pt>
    <dgm:pt modelId="{C8EB1103-11DC-4A33-B17C-27E90858C842}" type="pres">
      <dgm:prSet presAssocID="{2316B9CB-A922-4D53-9DBE-4D689616A25D}" presName="composite" presStyleCnt="0"/>
      <dgm:spPr/>
    </dgm:pt>
    <dgm:pt modelId="{E0E73A1A-CC5B-49E6-A088-CF9FB6BDA75F}" type="pres">
      <dgm:prSet presAssocID="{2316B9CB-A922-4D53-9DBE-4D689616A25D}" presName="bentUpArrow1" presStyleLbl="alignImgPlace1" presStyleIdx="0" presStyleCnt="2"/>
      <dgm:spPr/>
    </dgm:pt>
    <dgm:pt modelId="{525666A4-455C-4522-872E-739E703B9E3B}" type="pres">
      <dgm:prSet presAssocID="{2316B9CB-A922-4D53-9DBE-4D689616A25D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C5E8BE6-FA64-4B97-8829-E80BF1213E67}" type="pres">
      <dgm:prSet presAssocID="{2316B9CB-A922-4D53-9DBE-4D689616A25D}" presName="ChildText" presStyleLbl="revTx" presStyleIdx="0" presStyleCnt="3" custScaleX="393014" custLinFactX="59977" custLinFactNeighborX="100000" custLinFactNeighborY="-401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CF844E1-3C51-41E6-96E5-6BFCF0907900}" type="pres">
      <dgm:prSet presAssocID="{1C2122DC-C5F5-4148-AC5A-5FB7F5A5F129}" presName="sibTrans" presStyleCnt="0"/>
      <dgm:spPr/>
    </dgm:pt>
    <dgm:pt modelId="{39F1FC7F-676F-48C8-B813-66541BECF6B8}" type="pres">
      <dgm:prSet presAssocID="{E50FCFEE-2DA9-4601-A14D-5C24564485E4}" presName="composite" presStyleCnt="0"/>
      <dgm:spPr/>
    </dgm:pt>
    <dgm:pt modelId="{5071EFBD-A257-4808-97DF-08B611B768CE}" type="pres">
      <dgm:prSet presAssocID="{E50FCFEE-2DA9-4601-A14D-5C24564485E4}" presName="bentUpArrow1" presStyleLbl="alignImgPlace1" presStyleIdx="1" presStyleCnt="2"/>
      <dgm:spPr/>
    </dgm:pt>
    <dgm:pt modelId="{82919CED-484E-4B8F-AECD-9F0E819EDE1E}" type="pres">
      <dgm:prSet presAssocID="{E50FCFEE-2DA9-4601-A14D-5C24564485E4}" presName="ParentText" presStyleLbl="node1" presStyleIdx="1" presStyleCnt="3" custLinFactNeighborX="-42359" custLinFactNeighborY="134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B2F0D9A-EDAA-4B5D-BAAB-1D23B1B508BD}" type="pres">
      <dgm:prSet presAssocID="{E50FCFEE-2DA9-4601-A14D-5C24564485E4}" presName="ChildText" presStyleLbl="revTx" presStyleIdx="1" presStyleCnt="3" custScaleX="232587" custLinFactNeighborX="16191" custLinFactNeighborY="17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B8F98EE-BB91-4B4D-9CF6-7680BEE99866}" type="pres">
      <dgm:prSet presAssocID="{DD6BC977-41B1-4DE8-98DA-CA7FDE7D5D6B}" presName="sibTrans" presStyleCnt="0"/>
      <dgm:spPr/>
    </dgm:pt>
    <dgm:pt modelId="{7AD9769D-4AA5-4550-BA88-B8356793DA11}" type="pres">
      <dgm:prSet presAssocID="{775F5D96-0A15-4C11-92AF-3695F7BAC039}" presName="composite" presStyleCnt="0"/>
      <dgm:spPr/>
    </dgm:pt>
    <dgm:pt modelId="{83179532-017D-4254-A29C-F1AE28AF0054}" type="pres">
      <dgm:prSet presAssocID="{775F5D96-0A15-4C11-92AF-3695F7BAC039}" presName="ParentText" presStyleLbl="node1" presStyleIdx="2" presStyleCnt="3" custLinFactNeighborX="-45712" custLinFactNeighborY="278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48E7861-6658-437C-809F-8066BCEB2B37}" type="pres">
      <dgm:prSet presAssocID="{775F5D96-0A15-4C11-92AF-3695F7BAC039}" presName="FinalChildText" presStyleLbl="revTx" presStyleIdx="2" presStyleCnt="3" custScaleX="163124" custLinFactNeighborX="-20136" custLinFactNeighborY="741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98FC740C-947E-47A4-83D3-15D4A185CA8C}" type="presOf" srcId="{98B1736B-32EA-4504-8066-E7C67505B874}" destId="{EC5E8BE6-FA64-4B97-8829-E80BF1213E67}" srcOrd="0" destOrd="0" presId="urn:microsoft.com/office/officeart/2005/8/layout/StepDownProcess"/>
    <dgm:cxn modelId="{2996AAF4-46E8-451A-8D6F-1FA8C4DBD71C}" type="presOf" srcId="{2316B9CB-A922-4D53-9DBE-4D689616A25D}" destId="{525666A4-455C-4522-872E-739E703B9E3B}" srcOrd="0" destOrd="0" presId="urn:microsoft.com/office/officeart/2005/8/layout/StepDownProcess"/>
    <dgm:cxn modelId="{C48CB122-91C6-4A16-98C9-F589F7B08908}" srcId="{2316B9CB-A922-4D53-9DBE-4D689616A25D}" destId="{98B1736B-32EA-4504-8066-E7C67505B874}" srcOrd="0" destOrd="0" parTransId="{90C846E3-770F-406B-AAFF-F0C8FF06EEAB}" sibTransId="{A2709123-C7E5-4950-A930-6DD72E17BC75}"/>
    <dgm:cxn modelId="{98A28395-B4E4-468D-96A8-04BDE1C3692A}" type="presOf" srcId="{1DA1F3B9-BC2D-45E4-8A41-3BB16E9A63D2}" destId="{2B2F0D9A-EDAA-4B5D-BAAB-1D23B1B508BD}" srcOrd="0" destOrd="0" presId="urn:microsoft.com/office/officeart/2005/8/layout/StepDownProcess"/>
    <dgm:cxn modelId="{B2E810CB-6664-431E-87F4-DDAE39419025}" srcId="{31B27C26-D791-43A0-8EEB-C4369F9C3F12}" destId="{2316B9CB-A922-4D53-9DBE-4D689616A25D}" srcOrd="0" destOrd="0" parTransId="{540EAF7C-FBB2-4326-8A97-50D4CD252AF9}" sibTransId="{1C2122DC-C5F5-4148-AC5A-5FB7F5A5F129}"/>
    <dgm:cxn modelId="{497EFD03-C153-4ABB-B747-D7A4E9FB8607}" srcId="{E50FCFEE-2DA9-4601-A14D-5C24564485E4}" destId="{1077B68D-4081-4C20-B15A-03F839C2AE90}" srcOrd="1" destOrd="0" parTransId="{FFC67076-89CA-4FBD-AAEA-C3105B40387E}" sibTransId="{4FB269F9-5C50-42C6-9226-366349D6521A}"/>
    <dgm:cxn modelId="{2503448C-DE8D-4A27-80C0-D721685809BC}" srcId="{E50FCFEE-2DA9-4601-A14D-5C24564485E4}" destId="{1DA1F3B9-BC2D-45E4-8A41-3BB16E9A63D2}" srcOrd="0" destOrd="0" parTransId="{21B2BC63-92D3-4AD3-8F04-3682CAF31DCF}" sibTransId="{4CEA4C31-B8A6-4422-8CF0-41738603D72E}"/>
    <dgm:cxn modelId="{56CD0BB0-A741-41ED-B7D0-0EAF19BE26B8}" type="presOf" srcId="{50F8A9FE-1BB4-4D93-A7DC-CD5F9A898D0D}" destId="{948E7861-6658-437C-809F-8066BCEB2B37}" srcOrd="0" destOrd="0" presId="urn:microsoft.com/office/officeart/2005/8/layout/StepDownProcess"/>
    <dgm:cxn modelId="{DDAEBF6B-5030-4784-A570-260C872EF984}" type="presOf" srcId="{31B27C26-D791-43A0-8EEB-C4369F9C3F12}" destId="{917106AA-D79D-4BB6-8395-02FDE8DC7F32}" srcOrd="0" destOrd="0" presId="urn:microsoft.com/office/officeart/2005/8/layout/StepDownProcess"/>
    <dgm:cxn modelId="{E13CBB9E-73D1-4275-A0F4-64579AA16A3F}" type="presOf" srcId="{4D79C957-A3A1-422C-AA7B-734FADC7F745}" destId="{EC5E8BE6-FA64-4B97-8829-E80BF1213E67}" srcOrd="0" destOrd="1" presId="urn:microsoft.com/office/officeart/2005/8/layout/StepDownProcess"/>
    <dgm:cxn modelId="{0E91DAD5-C255-4728-AF22-F2425045A99E}" type="presOf" srcId="{775F5D96-0A15-4C11-92AF-3695F7BAC039}" destId="{83179532-017D-4254-A29C-F1AE28AF0054}" srcOrd="0" destOrd="0" presId="urn:microsoft.com/office/officeart/2005/8/layout/StepDownProcess"/>
    <dgm:cxn modelId="{6A691D01-5D13-49A8-B902-75D0D0E5F5B9}" srcId="{2316B9CB-A922-4D53-9DBE-4D689616A25D}" destId="{4D79C957-A3A1-422C-AA7B-734FADC7F745}" srcOrd="1" destOrd="0" parTransId="{C94859CE-70A5-4782-883F-FFC18BA88018}" sibTransId="{C769CC72-8E61-4E1D-8407-CC5CA12C10F2}"/>
    <dgm:cxn modelId="{A887874A-A165-4DA6-AE32-EE99E5278BD8}" srcId="{31B27C26-D791-43A0-8EEB-C4369F9C3F12}" destId="{775F5D96-0A15-4C11-92AF-3695F7BAC039}" srcOrd="2" destOrd="0" parTransId="{FCB45B77-F47A-465D-BC5C-6502811C8CFB}" sibTransId="{3EC77D74-23F8-4EF9-ABC6-B0925F493D40}"/>
    <dgm:cxn modelId="{1FC6CECD-B6E3-4DBD-9CFC-DC67DA05BE4B}" type="presOf" srcId="{E50FCFEE-2DA9-4601-A14D-5C24564485E4}" destId="{82919CED-484E-4B8F-AECD-9F0E819EDE1E}" srcOrd="0" destOrd="0" presId="urn:microsoft.com/office/officeart/2005/8/layout/StepDownProcess"/>
    <dgm:cxn modelId="{A523E429-9A7F-420E-85E4-617820EE44D8}" srcId="{775F5D96-0A15-4C11-92AF-3695F7BAC039}" destId="{50F8A9FE-1BB4-4D93-A7DC-CD5F9A898D0D}" srcOrd="0" destOrd="0" parTransId="{41D9E85E-FECC-4750-8060-E946D8E68969}" sibTransId="{D43C4320-9F4C-4B96-9462-FB3A8F9A5A10}"/>
    <dgm:cxn modelId="{B1738B1B-36F0-408B-9BB7-4BAA619E550C}" type="presOf" srcId="{1077B68D-4081-4C20-B15A-03F839C2AE90}" destId="{2B2F0D9A-EDAA-4B5D-BAAB-1D23B1B508BD}" srcOrd="0" destOrd="1" presId="urn:microsoft.com/office/officeart/2005/8/layout/StepDownProcess"/>
    <dgm:cxn modelId="{CCB9BB66-9ABA-4E63-8566-6677D6228B80}" srcId="{31B27C26-D791-43A0-8EEB-C4369F9C3F12}" destId="{E50FCFEE-2DA9-4601-A14D-5C24564485E4}" srcOrd="1" destOrd="0" parTransId="{58AECC57-47D8-47B2-B8A8-4BE6EE3243FC}" sibTransId="{DD6BC977-41B1-4DE8-98DA-CA7FDE7D5D6B}"/>
    <dgm:cxn modelId="{593D9006-AE3C-4664-AA5D-3C6E73D4FD65}" type="presParOf" srcId="{917106AA-D79D-4BB6-8395-02FDE8DC7F32}" destId="{C8EB1103-11DC-4A33-B17C-27E90858C842}" srcOrd="0" destOrd="0" presId="urn:microsoft.com/office/officeart/2005/8/layout/StepDownProcess"/>
    <dgm:cxn modelId="{934670EC-1D00-440B-8859-52CFAEB4892C}" type="presParOf" srcId="{C8EB1103-11DC-4A33-B17C-27E90858C842}" destId="{E0E73A1A-CC5B-49E6-A088-CF9FB6BDA75F}" srcOrd="0" destOrd="0" presId="urn:microsoft.com/office/officeart/2005/8/layout/StepDownProcess"/>
    <dgm:cxn modelId="{8F4CDA97-8CB2-44E0-90B9-72C5E2CD9E41}" type="presParOf" srcId="{C8EB1103-11DC-4A33-B17C-27E90858C842}" destId="{525666A4-455C-4522-872E-739E703B9E3B}" srcOrd="1" destOrd="0" presId="urn:microsoft.com/office/officeart/2005/8/layout/StepDownProcess"/>
    <dgm:cxn modelId="{0F8A29A9-5C11-410D-908C-5A4AA4880135}" type="presParOf" srcId="{C8EB1103-11DC-4A33-B17C-27E90858C842}" destId="{EC5E8BE6-FA64-4B97-8829-E80BF1213E67}" srcOrd="2" destOrd="0" presId="urn:microsoft.com/office/officeart/2005/8/layout/StepDownProcess"/>
    <dgm:cxn modelId="{5D84852B-C9D8-405F-BE2A-FA99B5C586E0}" type="presParOf" srcId="{917106AA-D79D-4BB6-8395-02FDE8DC7F32}" destId="{DCF844E1-3C51-41E6-96E5-6BFCF0907900}" srcOrd="1" destOrd="0" presId="urn:microsoft.com/office/officeart/2005/8/layout/StepDownProcess"/>
    <dgm:cxn modelId="{EF4D6B8F-5CEC-4F73-A641-5E63D7CF3829}" type="presParOf" srcId="{917106AA-D79D-4BB6-8395-02FDE8DC7F32}" destId="{39F1FC7F-676F-48C8-B813-66541BECF6B8}" srcOrd="2" destOrd="0" presId="urn:microsoft.com/office/officeart/2005/8/layout/StepDownProcess"/>
    <dgm:cxn modelId="{56CB27E1-144E-45D3-8521-83B124E821C8}" type="presParOf" srcId="{39F1FC7F-676F-48C8-B813-66541BECF6B8}" destId="{5071EFBD-A257-4808-97DF-08B611B768CE}" srcOrd="0" destOrd="0" presId="urn:microsoft.com/office/officeart/2005/8/layout/StepDownProcess"/>
    <dgm:cxn modelId="{AADB19F1-2F16-4B9C-8EA0-415743C17AD0}" type="presParOf" srcId="{39F1FC7F-676F-48C8-B813-66541BECF6B8}" destId="{82919CED-484E-4B8F-AECD-9F0E819EDE1E}" srcOrd="1" destOrd="0" presId="urn:microsoft.com/office/officeart/2005/8/layout/StepDownProcess"/>
    <dgm:cxn modelId="{005C3615-2E0B-49F6-9586-7E15B94D298D}" type="presParOf" srcId="{39F1FC7F-676F-48C8-B813-66541BECF6B8}" destId="{2B2F0D9A-EDAA-4B5D-BAAB-1D23B1B508BD}" srcOrd="2" destOrd="0" presId="urn:microsoft.com/office/officeart/2005/8/layout/StepDownProcess"/>
    <dgm:cxn modelId="{E0866BE8-9F0A-4AE8-853D-61303F8EB58E}" type="presParOf" srcId="{917106AA-D79D-4BB6-8395-02FDE8DC7F32}" destId="{4B8F98EE-BB91-4B4D-9CF6-7680BEE99866}" srcOrd="3" destOrd="0" presId="urn:microsoft.com/office/officeart/2005/8/layout/StepDownProcess"/>
    <dgm:cxn modelId="{121EC63D-970F-4C83-9931-1DBB928B156F}" type="presParOf" srcId="{917106AA-D79D-4BB6-8395-02FDE8DC7F32}" destId="{7AD9769D-4AA5-4550-BA88-B8356793DA11}" srcOrd="4" destOrd="0" presId="urn:microsoft.com/office/officeart/2005/8/layout/StepDownProcess"/>
    <dgm:cxn modelId="{1C9D9D42-B6BA-4C1D-86EA-5C260E60ECE5}" type="presParOf" srcId="{7AD9769D-4AA5-4550-BA88-B8356793DA11}" destId="{83179532-017D-4254-A29C-F1AE28AF0054}" srcOrd="0" destOrd="0" presId="urn:microsoft.com/office/officeart/2005/8/layout/StepDownProcess"/>
    <dgm:cxn modelId="{3107105F-F947-4998-919C-98D6FC0F7846}" type="presParOf" srcId="{7AD9769D-4AA5-4550-BA88-B8356793DA11}" destId="{948E7861-6658-437C-809F-8066BCEB2B3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73A1A-CC5B-49E6-A088-CF9FB6BDA75F}">
      <dsp:nvSpPr>
        <dsp:cNvPr id="0" name=""/>
        <dsp:cNvSpPr/>
      </dsp:nvSpPr>
      <dsp:spPr>
        <a:xfrm rot="5400000">
          <a:off x="358669" y="1686094"/>
          <a:ext cx="955393" cy="10876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5666A4-455C-4522-872E-739E703B9E3B}">
      <dsp:nvSpPr>
        <dsp:cNvPr id="0" name=""/>
        <dsp:cNvSpPr/>
      </dsp:nvSpPr>
      <dsp:spPr>
        <a:xfrm>
          <a:off x="105548" y="627021"/>
          <a:ext cx="1608320" cy="1125772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300" kern="1200" dirty="0" smtClean="0">
              <a:latin typeface="微軟正黑體" pitchFamily="34" charset="-120"/>
              <a:ea typeface="微軟正黑體" pitchFamily="34" charset="-120"/>
            </a:rPr>
            <a:t>Step 1</a:t>
          </a:r>
          <a:endParaRPr lang="zh-TW" altLang="en-US" sz="3300" kern="1200" dirty="0">
            <a:latin typeface="微軟正黑體" pitchFamily="34" charset="-120"/>
            <a:ea typeface="微軟正黑體" pitchFamily="34" charset="-120"/>
          </a:endParaRPr>
        </a:p>
      </dsp:txBody>
      <dsp:txXfrm>
        <a:off x="105548" y="627021"/>
        <a:ext cx="1608320" cy="1125772"/>
      </dsp:txXfrm>
    </dsp:sp>
    <dsp:sp modelId="{EC5E8BE6-FA64-4B97-8829-E80BF1213E67}">
      <dsp:nvSpPr>
        <dsp:cNvPr id="0" name=""/>
        <dsp:cNvSpPr/>
      </dsp:nvSpPr>
      <dsp:spPr>
        <a:xfrm>
          <a:off x="1871432" y="697857"/>
          <a:ext cx="4597238" cy="909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700" kern="1200" dirty="0" smtClean="0">
              <a:latin typeface="微軟正黑體" pitchFamily="34" charset="-120"/>
              <a:ea typeface="微軟正黑體" pitchFamily="34" charset="-120"/>
            </a:rPr>
            <a:t>技術確認為</a:t>
          </a:r>
          <a:r>
            <a:rPr lang="en-US" altLang="zh-TW" sz="1700" kern="1200" dirty="0" smtClean="0">
              <a:latin typeface="微軟正黑體" pitchFamily="34" charset="-120"/>
              <a:ea typeface="微軟正黑體" pitchFamily="34" charset="-120"/>
            </a:rPr>
            <a:t>CF</a:t>
          </a:r>
          <a:r>
            <a:rPr lang="zh-TW" altLang="en-US" sz="1700" kern="1200" dirty="0" smtClean="0">
              <a:latin typeface="微軟正黑體" pitchFamily="34" charset="-120"/>
              <a:ea typeface="微軟正黑體" pitchFamily="34" charset="-120"/>
            </a:rPr>
            <a:t>問題</a:t>
          </a:r>
          <a:endParaRPr lang="zh-TW" altLang="en-US" sz="1700" kern="1200" dirty="0">
            <a:latin typeface="微軟正黑體" pitchFamily="34" charset="-120"/>
            <a:ea typeface="微軟正黑體" pitchFamily="34" charset="-12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700" kern="1200" dirty="0" smtClean="0">
              <a:latin typeface="微軟正黑體" pitchFamily="34" charset="-120"/>
              <a:ea typeface="微軟正黑體" pitchFamily="34" charset="-120"/>
            </a:rPr>
            <a:t>PM→</a:t>
          </a:r>
          <a:r>
            <a:rPr lang="zh-TW" altLang="en-US" sz="1700" kern="1200" dirty="0" smtClean="0">
              <a:latin typeface="微軟正黑體" pitchFamily="34" charset="-120"/>
              <a:ea typeface="微軟正黑體" pitchFamily="34" charset="-120"/>
            </a:rPr>
            <a:t>通知業務→告知主辦，</a:t>
          </a:r>
          <a:r>
            <a:rPr lang="zh-TW" altLang="en-US" sz="1700" b="1" kern="12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公告於主辦社群</a:t>
          </a:r>
          <a:endParaRPr lang="zh-TW" altLang="en-US" sz="1700" b="1" kern="1200" dirty="0">
            <a:solidFill>
              <a:srgbClr val="C00000"/>
            </a:solidFill>
            <a:latin typeface="微軟正黑體" pitchFamily="34" charset="-120"/>
            <a:ea typeface="微軟正黑體" pitchFamily="34" charset="-120"/>
          </a:endParaRPr>
        </a:p>
      </dsp:txBody>
      <dsp:txXfrm>
        <a:off x="1871432" y="697857"/>
        <a:ext cx="4597238" cy="909898"/>
      </dsp:txXfrm>
    </dsp:sp>
    <dsp:sp modelId="{5071EFBD-A257-4808-97DF-08B611B768CE}">
      <dsp:nvSpPr>
        <dsp:cNvPr id="0" name=""/>
        <dsp:cNvSpPr/>
      </dsp:nvSpPr>
      <dsp:spPr>
        <a:xfrm rot="5400000">
          <a:off x="2459914" y="2950708"/>
          <a:ext cx="955393" cy="10876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1486124"/>
            <a:satOff val="-26785"/>
            <a:lumOff val="107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19CED-484E-4B8F-AECD-9F0E819EDE1E}">
      <dsp:nvSpPr>
        <dsp:cNvPr id="0" name=""/>
        <dsp:cNvSpPr/>
      </dsp:nvSpPr>
      <dsp:spPr>
        <a:xfrm>
          <a:off x="1525525" y="1906731"/>
          <a:ext cx="1608320" cy="1125772"/>
        </a:xfrm>
        <a:prstGeom prst="roundRect">
          <a:avLst>
            <a:gd name="adj" fmla="val 16670"/>
          </a:avLst>
        </a:prstGeom>
        <a:solidFill>
          <a:schemeClr val="accent4">
            <a:hueOff val="928412"/>
            <a:satOff val="-28205"/>
            <a:lumOff val="9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300" kern="1200" dirty="0" smtClean="0">
              <a:latin typeface="微軟正黑體" pitchFamily="34" charset="-120"/>
              <a:ea typeface="微軟正黑體" pitchFamily="34" charset="-120"/>
            </a:rPr>
            <a:t>Step 2</a:t>
          </a:r>
          <a:endParaRPr lang="zh-TW" altLang="en-US" sz="3300" kern="1200" dirty="0">
            <a:latin typeface="微軟正黑體" pitchFamily="34" charset="-120"/>
            <a:ea typeface="微軟正黑體" pitchFamily="34" charset="-120"/>
          </a:endParaRPr>
        </a:p>
      </dsp:txBody>
      <dsp:txXfrm>
        <a:off x="1525525" y="1906731"/>
        <a:ext cx="1608320" cy="1125772"/>
      </dsp:txXfrm>
    </dsp:sp>
    <dsp:sp modelId="{2B2F0D9A-EDAA-4B5D-BAAB-1D23B1B508BD}">
      <dsp:nvSpPr>
        <dsp:cNvPr id="0" name=""/>
        <dsp:cNvSpPr/>
      </dsp:nvSpPr>
      <dsp:spPr>
        <a:xfrm>
          <a:off x="3229045" y="2014844"/>
          <a:ext cx="2720661" cy="909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700" kern="1200" dirty="0" smtClean="0">
              <a:latin typeface="微軟正黑體" pitchFamily="34" charset="-120"/>
              <a:ea typeface="微軟正黑體" pitchFamily="34" charset="-120"/>
            </a:rPr>
            <a:t>只能</a:t>
          </a:r>
          <a:r>
            <a:rPr lang="en-US" altLang="zh-TW" sz="1700" b="1" kern="1200" dirty="0" err="1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ibon</a:t>
          </a:r>
          <a:r>
            <a:rPr lang="zh-TW" altLang="en-US" sz="1700" b="1" kern="12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rPr>
            <a:t>機台售票</a:t>
          </a:r>
          <a:endParaRPr lang="zh-TW" altLang="en-US" sz="1700" b="1" kern="1200" dirty="0">
            <a:solidFill>
              <a:srgbClr val="C00000"/>
            </a:solidFill>
            <a:latin typeface="微軟正黑體" pitchFamily="34" charset="-120"/>
            <a:ea typeface="微軟正黑體" pitchFamily="34" charset="-12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700" kern="1200" dirty="0" smtClean="0">
              <a:latin typeface="微軟正黑體" pitchFamily="34" charset="-120"/>
              <a:ea typeface="微軟正黑體" pitchFamily="34" charset="-120"/>
            </a:rPr>
            <a:t>業務回饋開放時間</a:t>
          </a:r>
          <a:endParaRPr lang="zh-TW" altLang="en-US" sz="1700" kern="1200" dirty="0">
            <a:latin typeface="微軟正黑體" pitchFamily="34" charset="-120"/>
            <a:ea typeface="微軟正黑體" pitchFamily="34" charset="-120"/>
          </a:endParaRPr>
        </a:p>
      </dsp:txBody>
      <dsp:txXfrm>
        <a:off x="3229045" y="2014844"/>
        <a:ext cx="2720661" cy="909898"/>
      </dsp:txXfrm>
    </dsp:sp>
    <dsp:sp modelId="{83179532-017D-4254-A29C-F1AE28AF0054}">
      <dsp:nvSpPr>
        <dsp:cNvPr id="0" name=""/>
        <dsp:cNvSpPr/>
      </dsp:nvSpPr>
      <dsp:spPr>
        <a:xfrm>
          <a:off x="3678272" y="3187601"/>
          <a:ext cx="1608320" cy="1125772"/>
        </a:xfrm>
        <a:prstGeom prst="roundRect">
          <a:avLst>
            <a:gd name="adj" fmla="val 16670"/>
          </a:avLst>
        </a:prstGeom>
        <a:solidFill>
          <a:schemeClr val="accent4">
            <a:hueOff val="1856823"/>
            <a:satOff val="-56410"/>
            <a:lumOff val="1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300" kern="1200" dirty="0" smtClean="0">
              <a:latin typeface="微軟正黑體" pitchFamily="34" charset="-120"/>
              <a:ea typeface="微軟正黑體" pitchFamily="34" charset="-120"/>
            </a:rPr>
            <a:t>Step 3</a:t>
          </a:r>
          <a:endParaRPr lang="zh-TW" altLang="en-US" sz="3300" kern="1200" dirty="0">
            <a:latin typeface="微軟正黑體" pitchFamily="34" charset="-120"/>
            <a:ea typeface="微軟正黑體" pitchFamily="34" charset="-120"/>
          </a:endParaRPr>
        </a:p>
      </dsp:txBody>
      <dsp:txXfrm>
        <a:off x="3678272" y="3187601"/>
        <a:ext cx="1608320" cy="1125772"/>
      </dsp:txXfrm>
    </dsp:sp>
    <dsp:sp modelId="{948E7861-6658-437C-809F-8066BCEB2B37}">
      <dsp:nvSpPr>
        <dsp:cNvPr id="0" name=""/>
        <dsp:cNvSpPr/>
      </dsp:nvSpPr>
      <dsp:spPr>
        <a:xfrm>
          <a:off x="5417057" y="3331122"/>
          <a:ext cx="1908125" cy="9098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1500" kern="1200" dirty="0" smtClean="0">
              <a:latin typeface="微軟正黑體" pitchFamily="34" charset="-120"/>
              <a:ea typeface="微軟正黑體" pitchFamily="34" charset="-120"/>
            </a:rPr>
            <a:t>PM/Q</a:t>
          </a:r>
          <a:r>
            <a:rPr lang="zh-TW" altLang="en-US" sz="1500" kern="1200" dirty="0" smtClean="0">
              <a:latin typeface="微軟正黑體" pitchFamily="34" charset="-120"/>
              <a:ea typeface="微軟正黑體" pitchFamily="34" charset="-120"/>
            </a:rPr>
            <a:t>、</a:t>
          </a:r>
          <a:r>
            <a:rPr lang="en-US" altLang="zh-TW" sz="1500" kern="1200" dirty="0" smtClean="0">
              <a:latin typeface="微軟正黑體" pitchFamily="34" charset="-120"/>
              <a:ea typeface="微軟正黑體" pitchFamily="34" charset="-120"/>
            </a:rPr>
            <a:t>A</a:t>
          </a:r>
          <a:r>
            <a:rPr lang="zh-TW" altLang="en-US" sz="1500" kern="1200" dirty="0" smtClean="0">
              <a:latin typeface="微軟正黑體" pitchFamily="34" charset="-120"/>
              <a:ea typeface="微軟正黑體" pitchFamily="34" charset="-120"/>
            </a:rPr>
            <a:t>系統技術機台監控</a:t>
          </a:r>
          <a:endParaRPr lang="zh-TW" altLang="en-US" sz="1500" kern="1200" dirty="0">
            <a:latin typeface="微軟正黑體" pitchFamily="34" charset="-120"/>
            <a:ea typeface="微軟正黑體" pitchFamily="34" charset="-120"/>
          </a:endParaRPr>
        </a:p>
      </dsp:txBody>
      <dsp:txXfrm>
        <a:off x="5417057" y="3331122"/>
        <a:ext cx="1908125" cy="909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752822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90103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A7D4C76-8E41-42FF-B2CC-B91DAB127A1C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F7B81A6-7E63-4B9C-9471-72FD8FD36C5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692696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b="1" dirty="0" smtClean="0">
                <a:latin typeface="微軟正黑體" pitchFamily="34" charset="-120"/>
                <a:ea typeface="微軟正黑體" pitchFamily="34" charset="-120"/>
              </a:rPr>
              <a:t>年啤酒節監控說明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TW" altLang="en-US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數位應用開發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Team</a:t>
            </a:r>
          </a:p>
          <a:p>
            <a:r>
              <a:rPr lang="en-US" altLang="zh-TW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Anne</a:t>
            </a:r>
          </a:p>
          <a:p>
            <a:r>
              <a:rPr lang="en-US" altLang="zh-TW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2026/5/12</a:t>
            </a:r>
            <a:endParaRPr lang="zh-TW" altLang="en-US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68288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>
                <a:latin typeface="微軟正黑體" pitchFamily="34" charset="-120"/>
                <a:ea typeface="微軟正黑體" pitchFamily="34" charset="-120"/>
              </a:rPr>
              <a:t>售票資訊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836712"/>
            <a:ext cx="8082639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96280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可售張數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40" y="836712"/>
            <a:ext cx="7998060" cy="5892306"/>
          </a:xfrm>
        </p:spPr>
      </p:pic>
    </p:spTree>
    <p:extLst>
      <p:ext uri="{BB962C8B-B14F-4D97-AF65-F5344CB8AC3E}">
        <p14:creationId xmlns:p14="http://schemas.microsoft.com/office/powerpoint/2010/main" val="49020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177856264249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836712"/>
            <a:ext cx="9144000" cy="42143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179512" y="188640"/>
            <a:ext cx="885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年啤酒節：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)-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中信卡友優先購、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)-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全面啟售</a:t>
            </a:r>
            <a:endParaRPr lang="zh-TW" altLang="en-US" sz="24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92080" y="3068960"/>
            <a:ext cx="1368152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660232" y="3501008"/>
            <a:ext cx="1224136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884368" y="4005064"/>
            <a:ext cx="1259632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884368" y="4509120"/>
            <a:ext cx="1259632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755576" y="5301208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LUC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機器於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上午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05:00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開始擴充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售票監控結束後，機器調降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暫訂，可視當日售票狀況隨時調整時間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預計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14:00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進行機器調降至維運等級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預計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15:00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進行機器調降至維運等級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292080" y="3573016"/>
            <a:ext cx="1296144" cy="43204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TW" sz="10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r"/>
            <a:r>
              <a:rPr lang="en-US" altLang="zh-TW" sz="1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       </a:t>
            </a:r>
            <a:r>
              <a:rPr lang="en-US" altLang="zh-TW" sz="1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5/13</a:t>
            </a:r>
            <a:endParaRPr lang="zh-TW" altLang="en-US" sz="10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77856255686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4757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字方塊 2"/>
          <p:cNvSpPr txBox="1"/>
          <p:nvPr/>
        </p:nvSpPr>
        <p:spPr>
          <a:xfrm>
            <a:off x="179512" y="188640"/>
            <a:ext cx="885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2026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年啤酒節：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)-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中信卡友優先購、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)-</a:t>
            </a:r>
            <a:r>
              <a:rPr lang="zh-TW" altLang="en-US" sz="2400" b="1" dirty="0" smtClean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全面啟售</a:t>
            </a:r>
            <a:endParaRPr lang="zh-TW" altLang="en-US" sz="24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52320" y="1988840"/>
            <a:ext cx="1584176" cy="10081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868144" y="2996952"/>
            <a:ext cx="1584176" cy="12241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52320" y="4221088"/>
            <a:ext cx="1584176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452320" y="4725144"/>
            <a:ext cx="1584176" cy="6480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83568" y="5517232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Agw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機器於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上午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05:00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開始擴充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售票監控結束後，機器調降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暫訂，可視當日售票狀況隨時調整時間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預計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14:00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進行機器調降至維運等級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預計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15:00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進行機器調降至維運等級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40296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購票流程圖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16632"/>
            <a:ext cx="5976663" cy="65527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323528" y="1700808"/>
            <a:ext cx="2160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D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系統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票區選擇頁</a:t>
            </a:r>
            <a:endParaRPr lang="en-US" altLang="zh-TW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↓</a:t>
            </a:r>
            <a:endParaRPr lang="en-US" altLang="zh-TW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D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系統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票種數量頁</a:t>
            </a:r>
            <a:endParaRPr lang="en-US" altLang="zh-TW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↓</a:t>
            </a:r>
            <a:endParaRPr lang="en-US" altLang="zh-TW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排隊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(QIT)</a:t>
            </a:r>
          </a:p>
          <a:p>
            <a:pPr algn="ctr"/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↓</a:t>
            </a:r>
          </a:p>
          <a:p>
            <a:pPr algn="ctr"/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系統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購物車頁</a:t>
            </a:r>
            <a:endParaRPr lang="zh-TW" altLang="en-US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642742"/>
          </a:xfrm>
        </p:spPr>
        <p:txBody>
          <a:bodyPr>
            <a:noAutofit/>
          </a:bodyPr>
          <a:lstStyle/>
          <a:p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QIT</a:t>
            </a:r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等候室</a:t>
            </a:r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/A</a:t>
            </a:r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流管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112654"/>
              </p:ext>
            </p:extLst>
          </p:nvPr>
        </p:nvGraphicFramePr>
        <p:xfrm>
          <a:off x="251520" y="836712"/>
          <a:ext cx="8640960" cy="554062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45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9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2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84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等候室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編號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等候室類型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開啟時間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每分鐘放入人數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or</a:t>
                      </a:r>
                    </a:p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Session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上限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文字訊息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路徑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3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</a:t>
                      </a: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啤酒節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流管版型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備用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200" dirty="0">
                        <a:solidFill>
                          <a:srgbClr val="C00000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12:00~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每分鐘：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1000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親愛的會員您好為確保進站使用者可順利完成選位或結帳，本站進行流量控管。系統將視進站人數即時調整，請稍後再試，謝謝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!</a:t>
                      </a:r>
                      <a:endParaRPr lang="zh-TW" altLang="en-US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隊列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ID:7c5a6613-dc0b-4c26-9ef2-df6ff3d0c8a2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節目介紹頁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【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線上購票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】button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→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D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系統票區頁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7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</a:t>
                      </a: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啤酒節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國內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IP)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流管版型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進入後有效時間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15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分鐘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)</a:t>
                      </a:r>
                      <a:endParaRPr kumimoji="0" lang="zh-TW" altLang="en-US" sz="1200" kern="1200" dirty="0" smtClean="0">
                        <a:solidFill>
                          <a:srgbClr val="C000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12:00~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每分鐘：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2000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等候系統配位中，請勿重新整理頁面或關閉流覽器。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隊列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ID:7c5a6613-dc0b-4c26-9ef2-df6ff3d0c8a2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進入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系統購物車前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6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啤酒節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國外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IP)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流管版型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進入後有效時間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15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分鐘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)</a:t>
                      </a:r>
                      <a:endParaRPr kumimoji="0" lang="zh-TW" altLang="en-US" sz="1200" kern="1200" dirty="0" smtClean="0">
                        <a:solidFill>
                          <a:srgbClr val="C00000"/>
                        </a:solidFill>
                        <a:latin typeface="微軟正黑體" pitchFamily="34" charset="-120"/>
                        <a:ea typeface="微軟正黑體" pitchFamily="34" charset="-120"/>
                        <a:cs typeface="+mn-cs"/>
                      </a:endParaRPr>
                    </a:p>
                    <a:p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12:00~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每分鐘：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50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等候系統配位中，請勿重新整理頁面或關閉流覽器</a:t>
                      </a:r>
                      <a:r>
                        <a:rPr lang="zh-TW" altLang="en-US" sz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。。</a:t>
                      </a:r>
                      <a:r>
                        <a:rPr lang="en-US" altLang="zh-TW" sz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多一個句號區分</a:t>
                      </a:r>
                      <a:r>
                        <a:rPr lang="en-US" altLang="zh-TW" sz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</a:p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隊列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ID:7c5a6613-dc0b-4c26-9ef2-df6ff3d0c8a2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進入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系統購物車前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057231"/>
                  </a:ext>
                </a:extLst>
              </a:tr>
              <a:tr h="8235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4</a:t>
                      </a:r>
                    </a:p>
                    <a:p>
                      <a:pPr algn="ctr"/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非啤酒節活動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流管版型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(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進入後有效時間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15</a:t>
                      </a:r>
                      <a:r>
                        <a:rPr kumimoji="0" lang="zh-TW" altLang="en-US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分鐘</a:t>
                      </a:r>
                      <a:r>
                        <a:rPr kumimoji="0" lang="en-US" altLang="zh-TW" sz="1200" kern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)</a:t>
                      </a:r>
                      <a:endParaRPr lang="en-US" altLang="zh-TW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11:30~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每分鐘：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100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親愛的會員您好為確保進站使用者可順利完成選位或結帳，本站進行流量控管。系統將視進站人數即時調整，請稍後再試，謝謝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!</a:t>
                      </a:r>
                      <a:endParaRPr lang="zh-TW" altLang="en-US" sz="12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隊列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ID:7c5a6613-dc0b-4c26-9ef2-df6ff3d0c8a2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進入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系統任一頁時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515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流管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12:00~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當連入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系統的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session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數超過</a:t>
                      </a:r>
                      <a:r>
                        <a:rPr lang="en-US" altLang="zh-TW" sz="1200" dirty="0" smtClean="0">
                          <a:solidFill>
                            <a:srgbClr val="C00000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20,000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時會出現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親愛的會員您好為確保進站使用者可順利完成選位或結帳，本站進行流量控管。系統將視進站人數即時調整，請稍後再試，謝謝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!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進行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系統任一活動，</a:t>
                      </a:r>
                      <a:r>
                        <a:rPr lang="en-US" altLang="zh-TW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session</a:t>
                      </a:r>
                      <a:r>
                        <a:rPr lang="zh-TW" altLang="en-US" sz="12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數超過上限時</a:t>
                      </a:r>
                      <a:endParaRPr lang="zh-TW" altLang="en-US" sz="12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QIT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等候室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_(1)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進入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D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系統票區選擇頁前</a:t>
            </a:r>
            <a:endParaRPr lang="zh-TW" altLang="en-US" sz="32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1680" y="1988840"/>
            <a:ext cx="5040560" cy="45523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51520" y="836712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時間：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)-12:00~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顯示：流管版型，看見隊列序號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預備著，需要時再開啟，每分鐘放入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1000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9872" y="5301208"/>
            <a:ext cx="1567620" cy="2887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39" y="1772816"/>
            <a:ext cx="5971777" cy="4608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QIT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等候室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_(2)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(3)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進入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系統購物車前</a:t>
            </a:r>
            <a:endParaRPr lang="zh-TW" altLang="en-US" sz="32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51520" y="836712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時間：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)-12:00~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顯示：流管版型，看見隊列序號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國內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及國外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各一間（國內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，每分鐘放入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2000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；國外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IP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，每分鐘放入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）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3888" y="6021288"/>
            <a:ext cx="1800200" cy="2887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2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47664" y="1850366"/>
            <a:ext cx="5587835" cy="44589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QIT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等候室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_(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)A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系統</a:t>
            </a:r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購買非啤酒節活動</a:t>
            </a:r>
            <a:endParaRPr lang="zh-TW" altLang="en-US" sz="32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51520" y="764704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時間：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)-11:30~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顯示：流管版型，看見隊列序號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提前於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11:30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開啟，進入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系統任一活動購票時，避免過多的人流提前留在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系統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3888" y="5013176"/>
            <a:ext cx="1800200" cy="2887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642742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3200" dirty="0" smtClean="0">
                <a:latin typeface="微軟正黑體" pitchFamily="34" charset="-120"/>
                <a:ea typeface="微軟正黑體" pitchFamily="34" charset="-120"/>
              </a:rPr>
              <a:t>系統流量管制頁</a:t>
            </a:r>
            <a:endParaRPr lang="zh-TW" altLang="en-US" sz="32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63688" y="2060848"/>
            <a:ext cx="5472608" cy="39821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51520" y="90872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時間：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5/13(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5/14(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四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)-12:00~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被放入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系統後，超過設定的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session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數者，就會看到此畫面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無隊列序號，讀秒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自動導回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ibon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首頁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157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70550"/>
          </a:xfrm>
        </p:spPr>
        <p:txBody>
          <a:bodyPr>
            <a:normAutofit fontScale="90000"/>
          </a:bodyPr>
          <a:lstStyle/>
          <a:p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系統檢視清單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572108"/>
              </p:ext>
            </p:extLst>
          </p:nvPr>
        </p:nvGraphicFramePr>
        <p:xfrm>
          <a:off x="467544" y="1052736"/>
          <a:ext cx="8229601" cy="304233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1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0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項次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系統別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內容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狀態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D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節目介紹頁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【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線上購票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】button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各國時區顯示正常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2025/12/1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上版</a:t>
                      </a:r>
                      <a:endParaRPr lang="en-US" altLang="zh-TW" sz="1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確認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OK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社群平台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可正常登入，會員登入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token(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改為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24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小時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2025/12/3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上版</a:t>
                      </a:r>
                      <a:endParaRPr lang="en-US" altLang="zh-TW" sz="1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確認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OK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社群平台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任一社群登入異常時，由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Jessica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設定改手機驗證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備案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確認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OK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社群平台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電話不提供修改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2025/12/10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上版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確認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OK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系統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刷卡核帳緩慢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備案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4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全站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CF</a:t>
                      </a:r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若有問題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備案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46043" cy="577792"/>
          </a:xfrm>
        </p:spPr>
        <p:txBody>
          <a:bodyPr>
            <a:noAutofit/>
          </a:bodyPr>
          <a:lstStyle/>
          <a:p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社群平台</a:t>
            </a:r>
            <a:r>
              <a:rPr lang="en-US" altLang="zh-TW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_(2)</a:t>
            </a:r>
            <a:r>
              <a:rPr lang="zh-TW" altLang="en-US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任一登入異常時</a:t>
            </a:r>
            <a:endParaRPr lang="zh-TW" altLang="en-US" sz="18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1681" y="1407372"/>
            <a:ext cx="4223746" cy="3040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195186" y="6281334"/>
            <a:ext cx="762000" cy="365125"/>
          </a:xfrm>
        </p:spPr>
        <p:txBody>
          <a:bodyPr/>
          <a:lstStyle/>
          <a:p>
            <a:fld id="{C8748FF8-CB3D-4250-B00D-71628EA8A42B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11915" y="1801542"/>
            <a:ext cx="3974887" cy="22518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矩形 12"/>
          <p:cNvSpPr/>
          <p:nvPr/>
        </p:nvSpPr>
        <p:spPr>
          <a:xfrm>
            <a:off x="326363" y="1801542"/>
            <a:ext cx="4289064" cy="472389"/>
          </a:xfrm>
          <a:prstGeom prst="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12402" y="2302225"/>
            <a:ext cx="4289064" cy="188281"/>
          </a:xfrm>
          <a:prstGeom prst="rect">
            <a:avLst/>
          </a:pr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26920" y="3917699"/>
            <a:ext cx="3965677" cy="261026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6" name="向下箭號 15"/>
          <p:cNvSpPr/>
          <p:nvPr/>
        </p:nvSpPr>
        <p:spPr>
          <a:xfrm>
            <a:off x="6204937" y="3573384"/>
            <a:ext cx="494420" cy="4800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61045" y="4945029"/>
            <a:ext cx="2939287" cy="64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由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Jessica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設定文字訊息，並改為手機驗證登入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1044855" y="2452070"/>
            <a:ext cx="533445" cy="24929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3853507" y="1675263"/>
            <a:ext cx="326587" cy="3624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zh-TW" altLang="en-US" sz="1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7641922" y="3450925"/>
            <a:ext cx="326587" cy="3624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TW" altLang="en-US" sz="1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041643" y="6100098"/>
            <a:ext cx="326587" cy="3624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zh-TW" altLang="en-US" sz="1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2809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70550"/>
          </a:xfrm>
        </p:spPr>
        <p:txBody>
          <a:bodyPr>
            <a:noAutofit/>
          </a:bodyPr>
          <a:lstStyle/>
          <a:p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社群平台</a:t>
            </a:r>
            <a:r>
              <a:rPr lang="en-US" altLang="zh-TW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_(2)</a:t>
            </a:r>
            <a:r>
              <a:rPr lang="zh-TW" altLang="en-US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會員註冊手機號碼已不提供修改</a:t>
            </a:r>
            <a:endParaRPr lang="zh-TW" altLang="en-US" sz="18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24744"/>
            <a:ext cx="8229600" cy="4237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088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546043" cy="504056"/>
          </a:xfrm>
        </p:spPr>
        <p:txBody>
          <a:bodyPr>
            <a:noAutofit/>
          </a:bodyPr>
          <a:lstStyle/>
          <a:p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系統</a:t>
            </a:r>
            <a:r>
              <a:rPr lang="en-US" altLang="zh-TW" sz="32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_</a:t>
            </a:r>
            <a:r>
              <a:rPr lang="en-US" altLang="zh-TW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(3)</a:t>
            </a:r>
            <a:r>
              <a:rPr lang="zh-TW" altLang="en-US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刷卡核帳緩慢</a:t>
            </a:r>
            <a:r>
              <a:rPr lang="en-US" altLang="zh-TW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  <a:r>
              <a:rPr lang="zh-TW" altLang="en-US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前台訂單確認中超過</a:t>
            </a:r>
            <a:r>
              <a:rPr lang="en-US" altLang="zh-TW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20</a:t>
            </a:r>
            <a:r>
              <a:rPr lang="zh-TW" altLang="en-US" sz="18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分鐘</a:t>
            </a:r>
            <a:endParaRPr lang="zh-TW" altLang="en-US" sz="18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67544" y="1196752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系統在同時進行售票與核對作業，兩個流程都需要大量存取訂單資料，可能導致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DB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資源競爭、查詢效能變慢、排程時間拉長，造成訂單狀態更新延遲。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建議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：當技術發現核帳變慢時</a:t>
            </a:r>
            <a:endParaRPr lang="en-US" altLang="zh-TW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PM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也會在售票後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15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分鐘下載銀行報表與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系統進行比對，一旦發現筆數差異大於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30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筆時，建議上清票，若實在不行，技術再評估人工觸發核帳，而不等排程進行。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風險：此方式會繞過部分自動檢核流程，可能產生資料不同步或錯帳的風險，因此僅在確認必要、且訂單量不大時才會執行。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926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712968" cy="498358"/>
          </a:xfrm>
        </p:spPr>
        <p:txBody>
          <a:bodyPr>
            <a:noAutofit/>
          </a:bodyPr>
          <a:lstStyle/>
          <a:p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重大異常</a:t>
            </a:r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en-US" altLang="zh-TW" sz="2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CF</a:t>
            </a:r>
            <a:r>
              <a:rPr lang="zh-TW" altLang="en-US" sz="2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異常，網站無法正常連入進行購票時</a:t>
            </a:r>
            <a:r>
              <a:rPr lang="en-US" altLang="zh-TW" sz="2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(D/A</a:t>
            </a:r>
            <a:r>
              <a:rPr lang="zh-TW" altLang="en-US" sz="2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系統均無法連入</a:t>
            </a:r>
            <a:r>
              <a:rPr lang="en-US" altLang="zh-TW" sz="20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83585" y="1350212"/>
            <a:ext cx="6335797" cy="4767808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endParaRPr lang="en-US" altLang="zh-TW" sz="2000" dirty="0" smtClean="0">
              <a:latin typeface="+mj-ea"/>
              <a:ea typeface="+mj-ea"/>
            </a:endParaRPr>
          </a:p>
          <a:p>
            <a:endParaRPr lang="en-US" altLang="zh-TW" sz="2400" dirty="0" smtClean="0">
              <a:latin typeface="+mj-ea"/>
              <a:ea typeface="+mj-ea"/>
            </a:endParaRPr>
          </a:p>
          <a:p>
            <a:endParaRPr lang="zh-TW" altLang="en-US" sz="2400" dirty="0">
              <a:latin typeface="+mj-ea"/>
              <a:ea typeface="+mj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5" name="資料庫圖表 4"/>
          <p:cNvGraphicFramePr/>
          <p:nvPr>
            <p:extLst/>
          </p:nvPr>
        </p:nvGraphicFramePr>
        <p:xfrm>
          <a:off x="1043608" y="1124744"/>
          <a:ext cx="7560840" cy="4909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969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70550"/>
          </a:xfrm>
        </p:spPr>
        <p:txBody>
          <a:bodyPr>
            <a:normAutofit fontScale="90000"/>
          </a:bodyPr>
          <a:lstStyle/>
          <a:p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人員任務</a:t>
            </a:r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3200" b="1" dirty="0" smtClean="0">
                <a:latin typeface="微軟正黑體" pitchFamily="34" charset="-120"/>
                <a:ea typeface="微軟正黑體" pitchFamily="34" charset="-120"/>
              </a:rPr>
              <a:t>全體</a:t>
            </a:r>
            <a:r>
              <a:rPr lang="en-US" altLang="zh-TW" sz="3200" b="1" dirty="0" smtClean="0">
                <a:latin typeface="微軟正黑體" pitchFamily="34" charset="-120"/>
                <a:ea typeface="微軟正黑體" pitchFamily="34" charset="-120"/>
              </a:rPr>
              <a:t>)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889425"/>
              </p:ext>
            </p:extLst>
          </p:nvPr>
        </p:nvGraphicFramePr>
        <p:xfrm>
          <a:off x="467544" y="980728"/>
          <a:ext cx="8229601" cy="482487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17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3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項次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系統別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內容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人員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4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社群登入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通知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OP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機器加大，監控待命</a:t>
                      </a:r>
                      <a:endParaRPr lang="en-US" altLang="zh-TW" sz="1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登入異常時，緊急設定改為手機驗證</a:t>
                      </a:r>
                      <a:endParaRPr lang="en-US" altLang="zh-TW" sz="1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Jessica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社群登入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登入監控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家銘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94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2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D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前台：預排顯示</a:t>
                      </a:r>
                      <a:endParaRPr lang="en-US" altLang="zh-TW" sz="1400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後台：清票訊息使用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廠商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一帆、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Webb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QIT(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排隊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等候室設定、每分鐘放入人數、前台訊息調整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家銘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4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CF(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機器人偵測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機器人程式相關監控、封鎖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廠商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-CF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Chris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5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系統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流量監控、障礙確認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Mog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Nick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購票監控、資格驗證確認、核帳</a:t>
                      </a:r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..</a:t>
                      </a:r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各排程監控、報表資料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Mog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6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金流平台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無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無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7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整體售票各事項說明、障礙說明通報、障礙整理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Anne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787">
                <a:tc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zh-TW" altLang="en-US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障礙通報後測試確認、銀行報表下載、客訴檢視回報、會員限購報表比對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latin typeface="微軟正黑體" pitchFamily="34" charset="-120"/>
                          <a:ea typeface="微軟正黑體" pitchFamily="34" charset="-120"/>
                        </a:rPr>
                        <a:t>Tammy</a:t>
                      </a:r>
                      <a:endParaRPr lang="zh-TW" altLang="en-US" sz="1400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82944" marR="82944" marT="45837" marB="4583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8FF8-CB3D-4250-B00D-71628EA8A42B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地鐵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183</TotalTime>
  <Words>1312</Words>
  <Application>Microsoft Office PowerPoint</Application>
  <PresentationFormat>如螢幕大小 (4:3)</PresentationFormat>
  <Paragraphs>201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微軟正黑體</vt:lpstr>
      <vt:lpstr>新細明體</vt:lpstr>
      <vt:lpstr>標楷體</vt:lpstr>
      <vt:lpstr>Bookman Old Style</vt:lpstr>
      <vt:lpstr>Gill Sans MT</vt:lpstr>
      <vt:lpstr>Wingdings</vt:lpstr>
      <vt:lpstr>Wingdings 3</vt:lpstr>
      <vt:lpstr>原創</vt:lpstr>
      <vt:lpstr>2026年啤酒節監控說明</vt:lpstr>
      <vt:lpstr>售票資訊</vt:lpstr>
      <vt:lpstr>可售張數</vt:lpstr>
      <vt:lpstr>PowerPoint 簡報</vt:lpstr>
      <vt:lpstr>PowerPoint 簡報</vt:lpstr>
      <vt:lpstr>購票流程圖</vt:lpstr>
      <vt:lpstr>QIT等候室/A流管</vt:lpstr>
      <vt:lpstr>QIT等候室_(1)進入D系統票區選擇頁前</vt:lpstr>
      <vt:lpstr>QIT等候室_(2)、(3)進入A系統購物車前</vt:lpstr>
      <vt:lpstr>QIT等候室_(4)A系統-購買非啤酒節活動</vt:lpstr>
      <vt:lpstr>A系統流量管制頁</vt:lpstr>
      <vt:lpstr>系統檢視清單</vt:lpstr>
      <vt:lpstr>社群平台_(2)任一登入異常時</vt:lpstr>
      <vt:lpstr>社群平台_(2)會員註冊手機號碼已不提供修改</vt:lpstr>
      <vt:lpstr>A系統_(3)刷卡核帳緩慢~前台訂單確認中超過20分鐘</vt:lpstr>
      <vt:lpstr>重大異常-CF異常，網站無法正常連入進行購票時(D/A系統均無法連入)</vt:lpstr>
      <vt:lpstr>人員任務(全體)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林怡君(iso-accound)</cp:lastModifiedBy>
  <cp:revision>8</cp:revision>
  <dcterms:created xsi:type="dcterms:W3CDTF">2026-05-12T10:54:19Z</dcterms:created>
  <dcterms:modified xsi:type="dcterms:W3CDTF">2026-05-13T01:24:33Z</dcterms:modified>
</cp:coreProperties>
</file>